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109728" cy="6858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9006840" y="2651760"/>
            <a:ext cx="1554480" cy="1554480"/>
          </a:xfrm>
          <a:prstGeom prst="rect">
            <a:avLst>
              <a:gd name="adj" fmla="val 3529"/>
            </a:avLst>
          </a:prstGeom>
          <a:solidFill>
            <a:srgbClr val="F2A93B"/>
          </a:solidFill>
          <a:ln/>
        </p:spPr>
      </p:sp>
      <p:pic>
        <p:nvPicPr>
          <p:cNvPr id="5" name="Image 0" descr="/home/claude/uba_deck_v2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0175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CODEALPHA CYBERSECURITY INTERNSHIP · TASK 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" y="2057400"/>
            <a:ext cx="7589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Phishing Awareness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0D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Recognizing, Preventing, and Responding to Phishing Attacks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4343400"/>
            <a:ext cx="164592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C0D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4800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Uba Courage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Awareness Training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3093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475488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5920"/>
            <a:ext cx="5806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is a form of social engineering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where the attacker uses deceptive communication to trick people into revealing sensitive information or taking harmful actions.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5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ATTACKERS MAY ATTEMPT TO STEAL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 rot="2700000">
            <a:off x="868680" y="3182112"/>
            <a:ext cx="274320" cy="274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09067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Login credentials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 rot="2700000">
            <a:off x="868680" y="3749040"/>
            <a:ext cx="274320" cy="274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65760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Banking information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 rot="2700000">
            <a:off x="868680" y="4315968"/>
            <a:ext cx="274320" cy="274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422452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Credit card numbers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 rot="2700000">
            <a:off x="868680" y="4882896"/>
            <a:ext cx="274320" cy="274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479145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Personal data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86600" y="1371600"/>
            <a:ext cx="4526280" cy="4754880"/>
          </a:xfrm>
          <a:prstGeom prst="rect">
            <a:avLst/>
          </a:prstGeom>
          <a:solidFill>
            <a:srgbClr val="2B1B4E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GOAL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06640" y="2286000"/>
            <a:ext cx="3886200" cy="777240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19" name="Shape 17"/>
          <p:cNvSpPr/>
          <p:nvPr/>
        </p:nvSpPr>
        <p:spPr>
          <a:xfrm>
            <a:off x="7406640" y="2286000"/>
            <a:ext cx="73152" cy="7772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22860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Create trust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06640" y="30632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93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06640" y="3337560"/>
            <a:ext cx="3886200" cy="777240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23" name="Shape 21"/>
          <p:cNvSpPr/>
          <p:nvPr/>
        </p:nvSpPr>
        <p:spPr>
          <a:xfrm>
            <a:off x="7406640" y="3337560"/>
            <a:ext cx="73152" cy="7772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33375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Trigger an action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406640" y="41148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93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06640" y="4389120"/>
            <a:ext cx="3886200" cy="777240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27" name="Shape 25"/>
          <p:cNvSpPr/>
          <p:nvPr/>
        </p:nvSpPr>
        <p:spPr>
          <a:xfrm>
            <a:off x="7406640" y="4389120"/>
            <a:ext cx="73152" cy="7772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8" name="Text 26"/>
          <p:cNvSpPr/>
          <p:nvPr/>
        </p:nvSpPr>
        <p:spPr>
          <a:xfrm>
            <a:off x="7635240" y="43891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Gain access / steal information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Awareness Training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Phishing Attack 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18488"/>
            <a:ext cx="502920" cy="5029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15087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Reconnaissance (Target)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63040" y="1856232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attacker identifies a potential victim and gathers details about them.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6949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51760"/>
            <a:ext cx="502920" cy="50292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254203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Setup (Deception)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2889504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convincing email, message, website, or phone call is created.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6949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85032"/>
            <a:ext cx="502920" cy="5029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85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357530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(Manipulation)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63040" y="3922776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victim is pressured to act quickly through fear or high urgency.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517136"/>
            <a:ext cx="6949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18304"/>
            <a:ext cx="502920" cy="50292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18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63040" y="460857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(Action)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63040" y="4956048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victim clicks the link, downloads the file, or provides information.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550408"/>
            <a:ext cx="6949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751576"/>
            <a:ext cx="502920" cy="5029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751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463040" y="564184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Exploitation (Compromise)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463040" y="59893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attacker obtains information, gains access, or steals funds.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0" y="1417320"/>
            <a:ext cx="3840480" cy="2743200"/>
          </a:xfrm>
          <a:prstGeom prst="rect">
            <a:avLst/>
          </a:prstGeom>
          <a:solidFill>
            <a:srgbClr val="2B1B4E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0" y="1737360"/>
            <a:ext cx="548640" cy="548640"/>
          </a:xfrm>
          <a:prstGeom prst="rect">
            <a:avLst>
              <a:gd name="adj" fmla="val 10000"/>
            </a:avLst>
          </a:prstGeom>
          <a:solidFill>
            <a:srgbClr val="F2A93B"/>
          </a:solidFill>
          <a:ln/>
        </p:spPr>
      </p:sp>
      <p:pic>
        <p:nvPicPr>
          <p:cNvPr id="31" name="Image 0" descr="/home/claude/uba_deck_v2/icons/usersecr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856232"/>
            <a:ext cx="310896" cy="31089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04672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Principle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8046720" y="2880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DECC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attacks exploit people, not just technology.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Awareness Training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Types of Phishing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Types of Phishing Attacks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747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65960"/>
            <a:ext cx="502920" cy="502920"/>
          </a:xfrm>
          <a:prstGeom prst="rect">
            <a:avLst>
              <a:gd name="adj" fmla="val 10909"/>
            </a:avLst>
          </a:prstGeom>
          <a:solidFill>
            <a:srgbClr val="F2A93B"/>
          </a:solidFill>
          <a:ln/>
        </p:spPr>
      </p:sp>
      <p:pic>
        <p:nvPicPr>
          <p:cNvPr id="7" name="Image 0" descr="/home/claude/uba_deck_v2/icons/envelop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7568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Phishing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Fake emails designed to steal information or deliver malicious content.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06240" y="1737360"/>
            <a:ext cx="34747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4840" y="1965960"/>
            <a:ext cx="502920" cy="502920"/>
          </a:xfrm>
          <a:prstGeom prst="rect">
            <a:avLst>
              <a:gd name="adj" fmla="val 10909"/>
            </a:avLst>
          </a:prstGeom>
          <a:solidFill>
            <a:srgbClr val="F2A93B"/>
          </a:solidFill>
          <a:ln/>
        </p:spPr>
      </p:sp>
      <p:pic>
        <p:nvPicPr>
          <p:cNvPr id="12" name="Image 1" descr="/home/claude/uba_deck_v2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07568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Spear Phishing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434840" y="26060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Highly targeted phishing directed at a specific individual or organization.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863840" y="1737360"/>
            <a:ext cx="34747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92440" y="1965960"/>
            <a:ext cx="502920" cy="502920"/>
          </a:xfrm>
          <a:prstGeom prst="rect">
            <a:avLst>
              <a:gd name="adj" fmla="val 10909"/>
            </a:avLst>
          </a:prstGeom>
          <a:solidFill>
            <a:srgbClr val="FF5A5F"/>
          </a:solidFill>
          <a:ln/>
        </p:spPr>
      </p:sp>
      <p:pic>
        <p:nvPicPr>
          <p:cNvPr id="17" name="Image 2" descr="/home/claude/uba_deck_v2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207568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32520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Whaling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092440" y="26060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Targets high-level executives in organizations.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34747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4114800"/>
            <a:ext cx="502920" cy="502920"/>
          </a:xfrm>
          <a:prstGeom prst="rect">
            <a:avLst>
              <a:gd name="adj" fmla="val 10909"/>
            </a:avLst>
          </a:prstGeom>
          <a:solidFill>
            <a:srgbClr val="F2A93B"/>
          </a:solidFill>
          <a:ln/>
        </p:spPr>
      </p:sp>
      <p:pic>
        <p:nvPicPr>
          <p:cNvPr id="22" name="Image 3" descr="/home/claude/uba_deck_v2/icons/pho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224528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114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Smishing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77240" y="47548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through SMS or text messages.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06240" y="3886200"/>
            <a:ext cx="34747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434840" y="4114800"/>
            <a:ext cx="502920" cy="502920"/>
          </a:xfrm>
          <a:prstGeom prst="rect">
            <a:avLst>
              <a:gd name="adj" fmla="val 10909"/>
            </a:avLst>
          </a:prstGeom>
          <a:solidFill>
            <a:srgbClr val="F2A93B"/>
          </a:solidFill>
          <a:ln/>
        </p:spPr>
      </p:sp>
      <p:pic>
        <p:nvPicPr>
          <p:cNvPr id="27" name="Image 4" descr="/home/claude/uba_deck_v2/icons/phon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4224528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74920" y="4114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Vishing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434840" y="47548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conducted through voice calls.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863840" y="3886200"/>
            <a:ext cx="34747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092440" y="4114800"/>
            <a:ext cx="502920" cy="502920"/>
          </a:xfrm>
          <a:prstGeom prst="rect">
            <a:avLst>
              <a:gd name="adj" fmla="val 10909"/>
            </a:avLst>
          </a:prstGeom>
          <a:solidFill>
            <a:srgbClr val="F2A93B"/>
          </a:solidFill>
          <a:ln/>
        </p:spPr>
      </p:sp>
      <p:pic>
        <p:nvPicPr>
          <p:cNvPr id="32" name="Image 5" descr="/home/claude/uba_deck_v2/icons/lin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8" y="4224528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32520" y="4114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 Phishing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092440" y="47548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legitimate message is copied and modified to contain a malicious link or attachment.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6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Awareness Training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Phishing Email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to look for to avoid falling victim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280160"/>
            <a:ext cx="548640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280160"/>
            <a:ext cx="5486400" cy="411480"/>
          </a:xfrm>
          <a:prstGeom prst="rect">
            <a:avLst/>
          </a:prstGeom>
          <a:solidFill>
            <a:srgbClr val="2B1B4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2801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93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EMAIL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55080" y="182880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From: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5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Microsoft Security &lt;security@micros0ft-account.com&gt;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user@example.com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Subject: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5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⚠ URGENT: Your Microsoft Account Will Be Suspended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Dear Customer,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We detected unusual login activity on your Microsoft account from an unrecognized device.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 your security, your account will be permanently suspended within 24 hours unless you verify your identity.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Please click the button below to confirm your account:
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4617720"/>
            <a:ext cx="2194560" cy="36576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4617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[ VERIFY MY ACCOUNT 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5080" y="51663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Important: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Failure to complete verification within 24 hours will result in permanent account suspension.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Thank you,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Microsoft Account Security Team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128016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Sender Information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160934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—  Is the sender's address legitimate?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18928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—  Is the domain slightly misspelled?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30428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Urgent or Threatening Language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26334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—  Does it create panic or urgency?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9169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—  "URGENT: Account will be suspended!"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Grammar and Spelling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36576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—  Are there unusual grammar or spelling errors?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Greetings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43982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—  Generic greetings such as "Dear Customer"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80974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Suspicious Links and Attachments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51389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—  Does the URL match the legitimate organization?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54223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—  Was the attachment expected?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Awareness Training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rect">
            <a:avLst>
              <a:gd name="adj" fmla="val 9231"/>
            </a:avLst>
          </a:prstGeom>
          <a:solidFill>
            <a:srgbClr val="FF5A5F"/>
          </a:solidFill>
          <a:ln/>
        </p:spPr>
      </p:sp>
      <p:pic>
        <p:nvPicPr>
          <p:cNvPr id="3" name="Image 0" descr="/home/claude/uba_deck_v2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KNOWLEDGE CHECK · 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61872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 the Phishing Email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0D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Which of these details is the strongest sign of phishing?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0424160" cy="685800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774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23774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email uses your first name in the greeting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10424160" cy="685800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246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324612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email was sent on a Monday morning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10424160" cy="6858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1148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80160" y="41148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sender's domain is "micros0ft-account.com" instead of microsoft.com</a:t>
            </a:r>
            <a:endParaRPr lang="en-US" sz="1300" dirty="0"/>
          </a:p>
        </p:txBody>
      </p:sp>
      <p:pic>
        <p:nvPicPr>
          <p:cNvPr id="16" name="Image 1" descr="/home/claude/uba_deck_v2/icons/chec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288536"/>
            <a:ext cx="338328" cy="33832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" y="4983480"/>
            <a:ext cx="10424160" cy="685800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49834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280160" y="498348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email includes the company's real logo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A93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Answer: C — a lookalike domain ("0" instead of "o") is a technical giveaway a name or logo can't fake.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Awareness Training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Recognizing Fake Websites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Before entering sensitive information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65376"/>
            <a:ext cx="457200" cy="457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65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7830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the URL carefully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17320" y="21122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Look for misspellings and be cautious of unusual domains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1064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779776"/>
            <a:ext cx="457200" cy="45720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6974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rely only on HTTPS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17320" y="30266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HTTPS encrypts communication but does not automatically mean a website is legitimate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1064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694176"/>
            <a:ext cx="457200" cy="457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6118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the domain owner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17320" y="39410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Make sure you're on the organization's official website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64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608576"/>
            <a:ext cx="457200" cy="45720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608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5262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 links from suspicious messages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417320" y="48554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Navigate directly to the official website when possible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64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522976"/>
            <a:ext cx="457200" cy="457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522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54406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cautious with login pages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417320" y="57698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Especially when you weren't expecting to sign 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Awareness Training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Engineering Tactics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psychology behind phishing — attackers often manipulate human emotions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502920" cy="502920"/>
          </a:xfrm>
          <a:prstGeom prst="rect">
            <a:avLst>
              <a:gd name="adj" fmla="val 10909"/>
            </a:avLst>
          </a:prstGeom>
          <a:solidFill>
            <a:srgbClr val="F2A93B"/>
          </a:solidFill>
          <a:ln/>
        </p:spPr>
      </p:sp>
      <p:pic>
        <p:nvPicPr>
          <p:cNvPr id="7" name="Image 0" descr="/home/claude/uba_deck_v2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2996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5603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"I'm contacting you from your bank / IT department."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06240" y="169164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4840" y="1920240"/>
            <a:ext cx="502920" cy="502920"/>
          </a:xfrm>
          <a:prstGeom prst="rect">
            <a:avLst>
              <a:gd name="adj" fmla="val 10909"/>
            </a:avLst>
          </a:prstGeom>
          <a:solidFill>
            <a:srgbClr val="F2A93B"/>
          </a:solidFill>
          <a:ln/>
        </p:spPr>
      </p:sp>
      <p:pic>
        <p:nvPicPr>
          <p:cNvPr id="12" name="Image 1" descr="/home/claude/uba_deck_v2/icons/usersecr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02996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434840" y="25603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attacker pretends to be someone you know.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863840" y="169164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92440" y="1920240"/>
            <a:ext cx="502920" cy="502920"/>
          </a:xfrm>
          <a:prstGeom prst="rect">
            <a:avLst>
              <a:gd name="adj" fmla="val 10909"/>
            </a:avLst>
          </a:prstGeom>
          <a:solidFill>
            <a:srgbClr val="FF5A5F"/>
          </a:solidFill>
          <a:ln/>
        </p:spPr>
      </p:sp>
      <p:pic>
        <p:nvPicPr>
          <p:cNvPr id="17" name="Image 2" descr="/home/claude/uba_deck_v2/icons/warn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202996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32520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092440" y="25603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"Your account will be permanently locked."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4297680"/>
            <a:ext cx="502920" cy="502920"/>
          </a:xfrm>
          <a:prstGeom prst="rect">
            <a:avLst>
              <a:gd name="adj" fmla="val 10909"/>
            </a:avLst>
          </a:prstGeom>
          <a:solidFill>
            <a:srgbClr val="F2A93B"/>
          </a:solidFill>
          <a:ln/>
        </p:spPr>
      </p:sp>
      <p:pic>
        <p:nvPicPr>
          <p:cNvPr id="22" name="Image 3" descr="/home/claude/uba_deck_v2/icons/ke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407408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77240" y="49377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"You have won a prize!"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06240" y="406908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434840" y="4297680"/>
            <a:ext cx="502920" cy="502920"/>
          </a:xfrm>
          <a:prstGeom prst="rect">
            <a:avLst>
              <a:gd name="adj" fmla="val 10909"/>
            </a:avLst>
          </a:prstGeom>
          <a:solidFill>
            <a:srgbClr val="FF5A5F"/>
          </a:solidFill>
          <a:ln/>
        </p:spPr>
      </p:sp>
      <p:pic>
        <p:nvPicPr>
          <p:cNvPr id="27" name="Image 4" descr="/home/claude/uba_deck_v2/icons/clipboa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4407408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7492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Urgency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434840" y="49377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"Respond within 30 minutes."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863840" y="4069080"/>
            <a:ext cx="3520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092440" y="4297680"/>
            <a:ext cx="502920" cy="502920"/>
          </a:xfrm>
          <a:prstGeom prst="rect">
            <a:avLst>
              <a:gd name="adj" fmla="val 10909"/>
            </a:avLst>
          </a:prstGeom>
          <a:solidFill>
            <a:srgbClr val="F2A93B"/>
          </a:solidFill>
          <a:ln/>
        </p:spPr>
      </p:sp>
      <p:pic>
        <p:nvPicPr>
          <p:cNvPr id="32" name="Image 5" descr="/home/claude/uba_deck_v2/icons/bug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8" y="4407408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3252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Scarcity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092440" y="49377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"Only two spots left" or limited-time offers that rush a decision.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6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Awareness Training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Case Studies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82296" cy="157276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33502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Twitter Account Hijacking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66420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0" y="1353312"/>
            <a:ext cx="3520440" cy="365760"/>
          </a:xfrm>
          <a:prstGeom prst="rect">
            <a:avLst/>
          </a:prstGeom>
          <a:solidFill>
            <a:srgbClr val="FDECC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135331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Social Engineering + Phishing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1956816"/>
            <a:ext cx="10378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Hackers used fake IT support calls and a fake VPN website to steal employee credentials, compromising high-profile accounts and collecting about $117,000 in Bitcoin.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11064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98648"/>
            <a:ext cx="82296" cy="157276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02666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Colonial Pipeline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335584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2021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0" y="3044952"/>
            <a:ext cx="3520440" cy="365760"/>
          </a:xfrm>
          <a:prstGeom prst="rect">
            <a:avLst/>
          </a:prstGeom>
          <a:solidFill>
            <a:srgbClr val="FDECC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304495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Spear Phishing → Ransomware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3648456"/>
            <a:ext cx="10378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Spear phishing was identified as the likely entry point for a ransomware attack that disrupted fuel supplies for about a week, resulting in a $4.4 million ransom payment.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590288"/>
            <a:ext cx="11064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590288"/>
            <a:ext cx="82296" cy="157276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471830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USPS Smishing Campaign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" y="504748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2020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0" y="4736592"/>
            <a:ext cx="3520440" cy="365760"/>
          </a:xfrm>
          <a:prstGeom prst="rect">
            <a:avLst/>
          </a:prstGeom>
          <a:solidFill>
            <a:srgbClr val="FDECC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473659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1B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Smishing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" y="5340096"/>
            <a:ext cx="10378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Attackers sent fake USPS delivery texts containing links to fraudulent websites designed to steal victims' Google credentials.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Details simplified for training purposes; figures are approximate and drawn from public reporting.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Awareness Training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 &amp; Prevention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C0D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Habits that stop phishing before it starts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04672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65376"/>
            <a:ext cx="457200" cy="457200"/>
          </a:xfrm>
          <a:prstGeom prst="rect">
            <a:avLst>
              <a:gd name="adj" fmla="val 12000"/>
            </a:avLst>
          </a:prstGeom>
          <a:solidFill>
            <a:srgbClr val="F2A93B"/>
          </a:solidFill>
          <a:ln/>
        </p:spPr>
      </p:sp>
      <p:pic>
        <p:nvPicPr>
          <p:cNvPr id="6" name="Image 0" descr="/home/claude/uba_deck_v2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659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Multi-Factor Authentication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21122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0D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MFA serves as a critical defense against credential theft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804672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779776"/>
            <a:ext cx="457200" cy="457200"/>
          </a:xfrm>
          <a:prstGeom prst="rect">
            <a:avLst>
              <a:gd name="adj" fmla="val 12000"/>
            </a:avLst>
          </a:prstGeom>
          <a:solidFill>
            <a:srgbClr val="F2A93B"/>
          </a:solidFill>
          <a:ln/>
        </p:spPr>
      </p:sp>
      <p:pic>
        <p:nvPicPr>
          <p:cNvPr id="11" name="Image 1" descr="/home/claude/uba_deck_v2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88036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974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Operating System &amp; Software Updated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417320" y="30266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0D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Patches close the vulnerabilities malware attachments try to exploit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11064240" cy="804672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694176"/>
            <a:ext cx="457200" cy="457200"/>
          </a:xfrm>
          <a:prstGeom prst="rect">
            <a:avLst>
              <a:gd name="adj" fmla="val 12000"/>
            </a:avLst>
          </a:prstGeom>
          <a:solidFill>
            <a:srgbClr val="F2A93B"/>
          </a:solidFill>
          <a:ln/>
        </p:spPr>
      </p:sp>
      <p:pic>
        <p:nvPicPr>
          <p:cNvPr id="16" name="Image 2" descr="/home/claude/uba_deck_v2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79476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118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Human Firewall Through Education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9410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0D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Teaching staff to recognize phishing and social engineering tactics through practical training and simulated attacks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434840"/>
            <a:ext cx="11064240" cy="804672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608576"/>
            <a:ext cx="457200" cy="457200"/>
          </a:xfrm>
          <a:prstGeom prst="rect">
            <a:avLst>
              <a:gd name="adj" fmla="val 12000"/>
            </a:avLst>
          </a:prstGeom>
          <a:solidFill>
            <a:srgbClr val="F2A93B"/>
          </a:solidFill>
          <a:ln/>
        </p:spPr>
      </p:sp>
      <p:pic>
        <p:nvPicPr>
          <p:cNvPr id="21" name="Image 3" descr="/home/claude/uba_deck_v2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70916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5262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and Delete Suspicious Messages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417320" y="48554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0D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Reporting helps admins block the sender for everyone else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5349240"/>
            <a:ext cx="11064240" cy="804672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522976"/>
            <a:ext cx="457200" cy="457200"/>
          </a:xfrm>
          <a:prstGeom prst="rect">
            <a:avLst>
              <a:gd name="adj" fmla="val 12000"/>
            </a:avLst>
          </a:prstGeom>
          <a:solidFill>
            <a:srgbClr val="F2A93B"/>
          </a:solidFill>
          <a:ln/>
        </p:spPr>
      </p:sp>
      <p:pic>
        <p:nvPicPr>
          <p:cNvPr id="26" name="Image 4" descr="/home/claude/uba_deck_v2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62356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4406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a Password Manager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7698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0D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Prevents weak or reused passwords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0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Awareness Training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Clicked? Here's What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fast action to minimize damage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Disconnect if necessary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malware may have been downloaded, disconnect the affected device from the network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3886200"/>
            <a:ext cx="164592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1920240"/>
            <a:ext cx="2514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2148840"/>
            <a:ext cx="502920" cy="50292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456432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56432" y="28803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compromised passwords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56432" y="36118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Change the password immediately, especially if you entered credentials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33872" y="3886200"/>
            <a:ext cx="164592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98464" y="1920240"/>
            <a:ext cx="2514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2148840"/>
            <a:ext cx="502920" cy="50292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181344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181344" y="28803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the incident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81344" y="36118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Notify your organization, IT/security team, bank, or relevant service provider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58784" y="3886200"/>
            <a:ext cx="164592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23376" y="1920240"/>
            <a:ext cx="2514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06256" y="2148840"/>
            <a:ext cx="502920" cy="50292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25" name="Text 23"/>
          <p:cNvSpPr/>
          <p:nvPr/>
        </p:nvSpPr>
        <p:spPr>
          <a:xfrm>
            <a:off x="8906256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906256" y="28803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your accounts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906256" y="36118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Watch for suspicious login attempts or transactions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Awareness Training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rect">
            <a:avLst>
              <a:gd name="adj" fmla="val 9231"/>
            </a:avLst>
          </a:prstGeom>
          <a:solidFill>
            <a:srgbClr val="FF5A5F"/>
          </a:solidFill>
          <a:ln/>
        </p:spPr>
      </p:sp>
      <p:pic>
        <p:nvPicPr>
          <p:cNvPr id="3" name="Image 0" descr="/home/claude/uba_deck_v2/icon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FINAL KNOWLEDGE CHECK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61872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 Quiz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0424160" cy="749808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837944"/>
            <a:ext cx="457200" cy="457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837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1691640"/>
            <a:ext cx="9326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 email urgently demands you reset your password within the hour — legit or red flag?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87752"/>
            <a:ext cx="10424160" cy="749808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2734056"/>
            <a:ext cx="457200" cy="457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734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2587752"/>
            <a:ext cx="9326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coworker's account sends you a "shared invoice" link you weren't expecting — what do you do first?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483864"/>
            <a:ext cx="10424160" cy="749808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15" name="Shape 12"/>
          <p:cNvSpPr/>
          <p:nvPr/>
        </p:nvSpPr>
        <p:spPr>
          <a:xfrm>
            <a:off x="749808" y="3630168"/>
            <a:ext cx="457200" cy="457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417320" y="3483864"/>
            <a:ext cx="9326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website URL has an extra word inserted, like "yourbank-secure.com" — safe to log in?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379976"/>
            <a:ext cx="10424160" cy="749808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19" name="Shape 16"/>
          <p:cNvSpPr/>
          <p:nvPr/>
        </p:nvSpPr>
        <p:spPr>
          <a:xfrm>
            <a:off x="749808" y="4526280"/>
            <a:ext cx="457200" cy="457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417320" y="4379976"/>
            <a:ext cx="9326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 accidentally entered your password on a suspicious site — what's your very first move?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5276088"/>
            <a:ext cx="10424160" cy="749808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23" name="Shape 20"/>
          <p:cNvSpPr/>
          <p:nvPr/>
        </p:nvSpPr>
        <p:spPr>
          <a:xfrm>
            <a:off x="749808" y="5422392"/>
            <a:ext cx="457200" cy="457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5422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17320" y="5276088"/>
            <a:ext cx="9326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caller claims to be "IT support" and asks for your password to "fix an issue" — comply?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Awareness Training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3A256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109728" cy="6858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2743200"/>
            <a:ext cx="1371600" cy="1371600"/>
          </a:xfrm>
          <a:prstGeom prst="rect">
            <a:avLst>
              <a:gd name="adj" fmla="val 4000"/>
            </a:avLst>
          </a:prstGeom>
          <a:solidFill>
            <a:srgbClr val="F2A93B"/>
          </a:solidFill>
          <a:ln/>
        </p:spPr>
      </p:sp>
      <p:pic>
        <p:nvPicPr>
          <p:cNvPr id="5" name="Image 0" descr="/home/claude/uba_deck_v2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0632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 rot="2700000">
            <a:off x="640080" y="1883664"/>
            <a:ext cx="256032" cy="2560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7830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Pause before you click; urgency is a manipulation tactic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 rot="2700000">
            <a:off x="640080" y="2450592"/>
            <a:ext cx="256032" cy="2560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35000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Verify sender domain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 rot="2700000">
            <a:off x="640080" y="3017520"/>
            <a:ext cx="256032" cy="2560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2916936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 MFA and strong passwords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 rot="2700000">
            <a:off x="640080" y="3584448"/>
            <a:ext cx="256032" cy="2560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3483864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Report suspicious messages immediately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0080" y="4251960"/>
            <a:ext cx="7223760" cy="36576"/>
          </a:xfrm>
          <a:prstGeom prst="rect">
            <a:avLst/>
          </a:prstGeom>
          <a:solidFill>
            <a:srgbClr val="463A6B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4805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DECC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Technology can help protect us, but cybersecurity also depends on human awareness.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Phishing Awareness Training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2026-08-15T19:39:15Z</dcterms:created>
  <dcterms:modified xsi:type="dcterms:W3CDTF">2026-08-15T19:39:15Z</dcterms:modified>
</cp:coreProperties>
</file>